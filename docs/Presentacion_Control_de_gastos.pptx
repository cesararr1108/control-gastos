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1E293B"/>
                </a:solidFill>
                <a:latin typeface="Calibri"/>
              </a:rPr>
              <a:t>Cantidad de solicitudes (datos de ejemplo)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Solicitudes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Gestión tecnológica</c:v>
                  </c:pt>
                  <c:pt idx="1">
                    <c:v>Gestión comercial</c:v>
                  </c:pt>
                  <c:pt idx="2">
                    <c:v>Gestión financiera</c:v>
                  </c:pt>
                  <c:pt idx="3">
                    <c:v>Gestión humana</c:v>
                  </c:pt>
                  <c:pt idx="4">
                    <c:v>Gestión compras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11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módulo: qué problema resuelve y cómo se usa. Duración sugerida: 20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Antes: solicitudes dispersas, sin trazabilidad. Ahora: un solo lugar con responsables, soportes y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Rama con anticipo: GA aprueba anticipo, solicitante monta preliminar, contabiliza y paga. Rama legalizar: registra preliminar al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se validan en pantalla y de nuevo en 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Gráfica ilustrativa con datos de ejemplo: el dashboard real muestra cantidad y valor por proceso, tipo y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gastos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F4F2"/>
                </a:solidFill>
              </a:rPr>
              <a:t>Cotizaciones, anticipos y facturas con flujo de autorización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E9E5"/>
                </a:solidFill>
              </a:rPr>
              <a:t>Presentación del módulo · 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resuelve el módulo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640080" y="15544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737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Antes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423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Solicitudes y soportes dispersos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 se sabía en qué paso iba cada una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Validaciones manuales de datos y fechas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Sin estadísticas por proceso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6263640" y="15544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737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Ahora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423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Un flujo único con responsables claros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Soportes PDF ligados a cada solicitud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Validaciones automáticas en cada paso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Bandeja, historial y dashboard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tipos de solicitud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Cotización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Se sube de 1 a 3 cotizaciones; Gerencia autoriza una. Luego se pide anticipo o se legaliza con el preliminar.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438912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37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Anticipo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Por factura o por viáticos (formatos F-FR-023 y F-FR-024 con cálculo de retefuente y saldo).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737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Factura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Se monta directamente el preliminar de una factura para su aprobación y pago.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participa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64008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Solicitante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Crea la solicitud, sube soportes y legaliza.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626364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459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Gerencia administrativa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31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Autoriza, aprueba, devuelve o rechaza.</a:t>
            </a:r>
            <a:endParaRPr lang="en-US" sz="2000" dirty="0"/>
          </a:p>
        </p:txBody>
      </p:sp>
      <p:sp>
        <p:nvSpPr>
          <p:cNvPr id="13" name="card"/>
          <p:cNvSpPr/>
          <p:nvPr/>
        </p:nvSpPr>
        <p:spPr>
          <a:xfrm>
            <a:off x="640080" y="39776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160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Contabilidad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46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Registra el número de contabilización.</a:t>
            </a:r>
            <a:endParaRPr lang="en-US" sz="2000" dirty="0"/>
          </a:p>
        </p:txBody>
      </p:sp>
      <p:sp>
        <p:nvSpPr>
          <p:cNvPr id="18" name="card"/>
          <p:cNvSpPr/>
          <p:nvPr/>
        </p:nvSpPr>
        <p:spPr>
          <a:xfrm>
            <a:off x="6263640" y="39776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06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160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Tesorería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46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Paga y cierra la solicitud.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cotización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82880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828800"/>
            <a:ext cx="19659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Solicitante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sube cotizaciones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624328" y="2423160"/>
            <a:ext cx="237744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80360" y="182880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80360" y="1828800"/>
            <a:ext cx="19659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Gerencia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autoriza una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64608" y="2423160"/>
            <a:ext cx="237744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0" y="182880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0640" y="1828800"/>
            <a:ext cx="19659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Solicitante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¿anticipo o legalizar?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04888" y="2423160"/>
            <a:ext cx="237744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0920" y="182880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1828800"/>
            <a:ext cx="19659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Gerencia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aprueba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45168" y="2423160"/>
            <a:ext cx="237744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0" y="182880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0" y="1828800"/>
            <a:ext cx="19659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Contabilidad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 Tesorería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640080" y="3840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Con anticipo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Gerencia aprueba el anticipo, el solicitante monta el preliminar y Contabilidad y Tesorería cierran.</a:t>
            </a:r>
            <a:endParaRPr lang="en-US" sz="2000" dirty="0"/>
          </a:p>
        </p:txBody>
      </p:sp>
      <p:sp>
        <p:nvSpPr>
          <p:cNvPr id="21" name="card"/>
          <p:cNvSpPr/>
          <p:nvPr/>
        </p:nvSpPr>
        <p:spPr>
          <a:xfrm>
            <a:off x="6263640" y="3840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Legalizar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El solicitante registra preliminar y factura de una vez; pasa directo a la aprobación del preliminar.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 que evitan errores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El número de preliminar empieza por 19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55448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hoy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15544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La fecha del preliminar nunca es futura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749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37490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Los valores solo aceptan números, con separador de miles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63640" y="37490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37490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7490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Factura obligatoria; contrato, soporte de pago y preliminar opcionales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bandeja: todo en un vistazo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En curso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14600" y="155448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14600" y="1554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Por aprobar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554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Contabilidad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Tesorería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283464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CFCCB"/>
          </a:solidFill>
          <a:ln w="12700">
            <a:solidFill>
              <a:srgbClr val="ECF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Finalizadas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2834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Rechazadas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5544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Clic en una tarjeta para filtrar la lista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Pestañas: Por atender, Mis solicitudes e Historial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Marcas «Nueva» y «Actualizada» en las últimas 24 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Filtros por texto, paso actual y tipo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Los administradores ven todas las solicitudes; los demás, las suyas.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en cada paso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Devolver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Gerencia devuelve con el motivo. El solicitante corrige, vuelve a adjuntar los PDF y reenvía.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37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Rechazar o cancelar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Gerencia puede rechazar con comentario. El solicitante cancela mientras esté en curso.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737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Trazabilidad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Cada paso queda con responsable, fecha y comentarios. Los cambios al flujo no afectan solicitudes en curso.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solicitudes por proceso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772400" y="17373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Cantidad y valor por proceso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Por tipo y por rol del solicitante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Tiempo de respuesta por rol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Filtros por fechas, organización y estado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configurables sin programar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645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</a:rPr>
              <a:t>Elegir tipo, nombre y organización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</a:rPr>
              <a:t>Agregar y ordenar los pasos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438912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389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</a:rPr>
              <a:t>Asignar responsable y condición de cada paso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Varias variantes por tipo y por organización; el usuario elige cuál usar al crear la solicitud.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F4F2"/>
                </a:solidFill>
              </a:rPr>
              <a:t>Manual de usuario disponible en PDF · 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 de gastos">
  <a:themeElements>
    <a:clrScheme name="Control de gastos">
      <a:dk1>
        <a:srgbClr val="1E293B"/>
      </a:dk1>
      <a:lt1>
        <a:srgbClr val="FFFFFF"/>
      </a:lt1>
      <a:dk2>
        <a:srgbClr val="0F766E"/>
      </a:dk2>
      <a:lt2>
        <a:srgbClr val="E6F4F2"/>
      </a:lt2>
      <a:accent1>
        <a:srgbClr val="0F766E"/>
      </a:accent1>
      <a:accent2>
        <a:srgbClr val="F59E0B"/>
      </a:accent2>
      <a:accent3>
        <a:srgbClr val="6366F1"/>
      </a:accent3>
      <a:accent4>
        <a:srgbClr val="10B981"/>
      </a:accent4>
      <a:accent5>
        <a:srgbClr val="E11D48"/>
      </a:accent5>
      <a:accent6>
        <a:srgbClr val="64748B"/>
      </a:accent6>
      <a:hlink>
        <a:srgbClr val="0F766E"/>
      </a:hlink>
      <a:folHlink>
        <a:srgbClr val="64748B"/>
      </a:folHlink>
    </a:clrScheme>
    <a:fontScheme name="Control de gast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gastos</dc:title>
  <dc:subject>PptxGenJS Presentation</dc:subject>
  <dc:creator>PptxGenJS</dc:creator>
  <cp:lastModifiedBy>PptxGenJS</cp:lastModifiedBy>
  <cp:revision>1</cp:revision>
  <dcterms:created xsi:type="dcterms:W3CDTF">2026-10-13T21:08:31Z</dcterms:created>
  <dcterms:modified xsi:type="dcterms:W3CDTF">2026-10-13T21:08:31Z</dcterms:modified>
</cp:coreProperties>
</file>